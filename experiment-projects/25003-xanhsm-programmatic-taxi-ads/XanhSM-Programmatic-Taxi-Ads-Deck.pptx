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5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PROGRAMMATIC TAXI SCREENS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A8C5F7"/>
                </a:solidFill>
              </a:defRPr>
            </a:pPr>
            <a:r>
              <a:t>Partnering with Vietnam's #1 Electric Taxi  •  December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65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THE PROBLEM: Advertisers Can't Measure Outdoor Ads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1A1A2E"/>
                </a:solidFill>
              </a:defRPr>
            </a:pPr>
            <a:r>
              <a:t>❌  No ROI measurement — "OOH is highly impactful but notoriously difficult to measure"</a:t>
            </a:r>
          </a:p>
          <a:p>
            <a:pPr>
              <a:spcAft>
                <a:spcPts val="1000"/>
              </a:spcAft>
              <a:defRPr sz="2200">
                <a:solidFill>
                  <a:srgbClr val="1A1A2E"/>
                </a:solidFill>
              </a:defRPr>
            </a:pPr>
            <a:r>
              <a:t>❌  No targeting capabilities — Billboards reach everyone indiscriminately</a:t>
            </a:r>
          </a:p>
          <a:p>
            <a:pPr>
              <a:spcAft>
                <a:spcPts val="1000"/>
              </a:spcAft>
              <a:defRPr sz="2200">
                <a:solidFill>
                  <a:srgbClr val="1A1A2E"/>
                </a:solidFill>
              </a:defRPr>
            </a:pPr>
            <a:r>
              <a:t>❌  High costs with uncertain returns — Tens to hundreds of millions VND</a:t>
            </a:r>
          </a:p>
          <a:p>
            <a:pPr>
              <a:spcAft>
                <a:spcPts val="1000"/>
              </a:spcAft>
              <a:defRPr sz="2200">
                <a:solidFill>
                  <a:srgbClr val="1A1A2E"/>
                </a:solidFill>
              </a:defRPr>
            </a:pPr>
            <a:r>
              <a:t>❌  Long-term commitments required — Clients reluctant to commit</a:t>
            </a:r>
          </a:p>
          <a:p>
            <a:pPr>
              <a:spcAft>
                <a:spcPts val="1000"/>
              </a:spcAft>
              <a:defRPr sz="2200">
                <a:solidFill>
                  <a:srgbClr val="1A1A2E"/>
                </a:solidFill>
              </a:defRPr>
            </a:pPr>
            <a:r>
              <a:t>❌  Limited engagement time — Only 5-7 seconds for billboard viewing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5669280"/>
            <a:ext cx="11277295" cy="822960"/>
          </a:xfrm>
          <a:prstGeom prst="roundRect">
            <a:avLst/>
          </a:prstGeom>
          <a:solidFill>
            <a:srgbClr val="F3F4F6"/>
          </a:solidFill>
          <a:ln>
            <a:solidFill>
              <a:srgbClr val="5B8D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58064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1652F0"/>
                </a:solidFill>
              </a:defRPr>
            </a:pPr>
            <a:r>
              <a:t>52% of marketers concerned about measurement  •  Billboard revenue fell 40% YoY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65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THE SOLUTION: Programmatic Taxi Screen Advertising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1A1A2E"/>
                </a:solidFill>
              </a:defRPr>
            </a:pPr>
            <a:r>
              <a:t>Helping advertisers reach the right people with measurable,</a:t>
            </a:r>
          </a:p>
          <a:p>
            <a:pPr>
              <a:spcAft>
                <a:spcPts val="1000"/>
              </a:spcAft>
              <a:defRPr sz="2200">
                <a:solidFill>
                  <a:srgbClr val="1A1A2E"/>
                </a:solidFill>
              </a:defRPr>
            </a:pPr>
            <a:r>
              <a:t>geo-targeted ads on XanhSM's 30,000+ electric taxi screens</a:t>
            </a:r>
          </a:p>
          <a:p>
            <a:pPr>
              <a:spcAft>
                <a:spcPts val="1000"/>
              </a:spcAft>
              <a:defRPr sz="2200">
                <a:solidFill>
                  <a:srgbClr val="1A1A2E"/>
                </a:solidFill>
              </a:defRPr>
            </a:pPr>
          </a:p>
          <a:p>
            <a:pPr>
              <a:spcAft>
                <a:spcPts val="1000"/>
              </a:spcAft>
              <a:defRPr sz="2200">
                <a:solidFill>
                  <a:srgbClr val="1A1A2E"/>
                </a:solidFill>
              </a:defRPr>
            </a:pPr>
            <a:r>
              <a:t>📍  GEO-TARGET — Target by district, route, time of day</a:t>
            </a:r>
          </a:p>
          <a:p>
            <a:pPr>
              <a:spcAft>
                <a:spcPts val="1000"/>
              </a:spcAft>
              <a:defRPr sz="2200">
                <a:solidFill>
                  <a:srgbClr val="1A1A2E"/>
                </a:solidFill>
              </a:defRPr>
            </a:pPr>
            <a:r>
              <a:t>📊  MEASURE — Verified impressions, GPS-tracked</a:t>
            </a:r>
          </a:p>
          <a:p>
            <a:pPr>
              <a:spcAft>
                <a:spcPts val="1000"/>
              </a:spcAft>
              <a:defRPr sz="2200">
                <a:solidFill>
                  <a:srgbClr val="1A1A2E"/>
                </a:solidFill>
              </a:defRPr>
            </a:pPr>
            <a:r>
              <a:t>⚡  REAL-TIME — Launch same-day, no long-term contracts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5669280"/>
            <a:ext cx="11277295" cy="822960"/>
          </a:xfrm>
          <a:prstGeom prst="roundRect">
            <a:avLst/>
          </a:prstGeom>
          <a:solidFill>
            <a:srgbClr val="F3F4F6"/>
          </a:solidFill>
          <a:ln>
            <a:solidFill>
              <a:srgbClr val="5B8D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58064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1652F0"/>
                </a:solidFill>
              </a:defRPr>
            </a:pPr>
            <a:r>
              <a:t>💡 First programmatic taxi advertising platform in Vietnam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65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MARKET OPPORTUNITY: $282M by 2033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1A1A2E"/>
                </a:solidFill>
              </a:defRPr>
            </a:pPr>
            <a:r>
              <a:t>Vietnam DOOH Market: $107.5M (2024) → $282.4M (2033)</a:t>
            </a:r>
          </a:p>
          <a:p>
            <a:pPr>
              <a:spcAft>
                <a:spcPts val="1000"/>
              </a:spcAft>
              <a:defRPr sz="2200">
                <a:solidFill>
                  <a:srgbClr val="1A1A2E"/>
                </a:solidFill>
              </a:defRPr>
            </a:pPr>
          </a:p>
          <a:p>
            <a:pPr>
              <a:spcAft>
                <a:spcPts val="1000"/>
              </a:spcAft>
              <a:defRPr sz="2200">
                <a:solidFill>
                  <a:srgbClr val="1A1A2E"/>
                </a:solidFill>
              </a:defRPr>
            </a:pPr>
            <a:r>
              <a:t>📈  10.14% CAGR — Highest DOOH growth rate in Southeast Asia</a:t>
            </a:r>
          </a:p>
          <a:p>
            <a:pPr>
              <a:spcAft>
                <a:spcPts val="1000"/>
              </a:spcAft>
              <a:defRPr sz="2200">
                <a:solidFill>
                  <a:srgbClr val="1A1A2E"/>
                </a:solidFill>
              </a:defRPr>
            </a:pPr>
            <a:r>
              <a:t>📈  +37% programmatic DOOH volume growth (2024 vs 2023) in SEA</a:t>
            </a:r>
          </a:p>
          <a:p>
            <a:pPr>
              <a:spcAft>
                <a:spcPts val="1000"/>
              </a:spcAft>
              <a:defRPr sz="2200">
                <a:solidFill>
                  <a:srgbClr val="1A1A2E"/>
                </a:solidFill>
              </a:defRPr>
            </a:pPr>
            <a:r>
              <a:t>📈  7.52% Transit Media CAGR — Fastest growing OOH segment</a:t>
            </a:r>
          </a:p>
          <a:p>
            <a:pPr>
              <a:spcAft>
                <a:spcPts val="1000"/>
              </a:spcAft>
              <a:defRPr sz="2200">
                <a:solidFill>
                  <a:srgbClr val="1A1A2E"/>
                </a:solidFill>
              </a:defRPr>
            </a:pPr>
          </a:p>
          <a:p>
            <a:pPr>
              <a:spcAft>
                <a:spcPts val="1000"/>
              </a:spcAft>
              <a:defRPr sz="2200">
                <a:solidFill>
                  <a:srgbClr val="1A1A2E"/>
                </a:solidFill>
              </a:defRPr>
            </a:pPr>
            <a:r>
              <a:t>By 2027: 75% of OOH will be DOOH, 16% programmatic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65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THE GAP: No Programmatic Taxi Advertising in Vietnam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463040"/>
            <a:ext cx="2791891" cy="502920"/>
          </a:xfrm>
          <a:prstGeom prst="rect">
            <a:avLst/>
          </a:prstGeom>
          <a:solidFill>
            <a:srgbClr val="165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72768"/>
            <a:ext cx="2727883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Company</a:t>
            </a:r>
          </a:p>
        </p:txBody>
      </p:sp>
      <p:sp>
        <p:nvSpPr>
          <p:cNvPr id="6" name="Rectangle 5"/>
          <p:cNvSpPr/>
          <p:nvPr/>
        </p:nvSpPr>
        <p:spPr>
          <a:xfrm>
            <a:off x="3276523" y="1463040"/>
            <a:ext cx="2791891" cy="502920"/>
          </a:xfrm>
          <a:prstGeom prst="rect">
            <a:avLst/>
          </a:prstGeom>
          <a:solidFill>
            <a:srgbClr val="165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322243" y="1572768"/>
            <a:ext cx="2727883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Focus</a:t>
            </a:r>
          </a:p>
        </p:txBody>
      </p:sp>
      <p:sp>
        <p:nvSpPr>
          <p:cNvPr id="8" name="Rectangle 7"/>
          <p:cNvSpPr/>
          <p:nvPr/>
        </p:nvSpPr>
        <p:spPr>
          <a:xfrm>
            <a:off x="6095847" y="1463040"/>
            <a:ext cx="2791891" cy="502920"/>
          </a:xfrm>
          <a:prstGeom prst="rect">
            <a:avLst/>
          </a:prstGeom>
          <a:solidFill>
            <a:srgbClr val="165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41567" y="1572768"/>
            <a:ext cx="2727883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Programmatic?</a:t>
            </a:r>
          </a:p>
        </p:txBody>
      </p:sp>
      <p:sp>
        <p:nvSpPr>
          <p:cNvPr id="10" name="Rectangle 9"/>
          <p:cNvSpPr/>
          <p:nvPr/>
        </p:nvSpPr>
        <p:spPr>
          <a:xfrm>
            <a:off x="8915171" y="1463040"/>
            <a:ext cx="2791891" cy="502920"/>
          </a:xfrm>
          <a:prstGeom prst="rect">
            <a:avLst/>
          </a:prstGeom>
          <a:solidFill>
            <a:srgbClr val="165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0891" y="1572768"/>
            <a:ext cx="2727883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Gap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1965960"/>
            <a:ext cx="2791891" cy="502920"/>
          </a:xfrm>
          <a:prstGeom prst="rect">
            <a:avLst/>
          </a:prstGeom>
          <a:solidFill>
            <a:srgbClr val="F3F4F6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0352" y="2075688"/>
            <a:ext cx="2682163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A1A2E"/>
                </a:solidFill>
              </a:defRPr>
            </a:pPr>
            <a:r>
              <a:t>JCDecaux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76523" y="1965960"/>
            <a:ext cx="2791891" cy="502920"/>
          </a:xfrm>
          <a:prstGeom prst="rect">
            <a:avLst/>
          </a:prstGeom>
          <a:solidFill>
            <a:srgbClr val="F3F4F6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49675" y="2075688"/>
            <a:ext cx="2682163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A1A2E"/>
                </a:solidFill>
              </a:defRPr>
            </a:pPr>
            <a:r>
              <a:t>Airports, roadside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95847" y="1965960"/>
            <a:ext cx="2791891" cy="502920"/>
          </a:xfrm>
          <a:prstGeom prst="rect">
            <a:avLst/>
          </a:prstGeom>
          <a:solidFill>
            <a:srgbClr val="F3F4F6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68999" y="2075688"/>
            <a:ext cx="2682163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A1A2E"/>
                </a:solidFill>
              </a:defRPr>
            </a:pPr>
            <a:r>
              <a:t>✅ Yes (VIOOH)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15171" y="1965960"/>
            <a:ext cx="2791891" cy="502920"/>
          </a:xfrm>
          <a:prstGeom prst="rect">
            <a:avLst/>
          </a:prstGeom>
          <a:solidFill>
            <a:srgbClr val="F3F4F6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88323" y="2075688"/>
            <a:ext cx="2682163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A1A2E"/>
                </a:solidFill>
              </a:defRPr>
            </a:pPr>
            <a:r>
              <a:t>❌ No taxis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2468880"/>
            <a:ext cx="2791891" cy="502920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0352" y="2578608"/>
            <a:ext cx="2682163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A1A2E"/>
                </a:solidFill>
              </a:defRPr>
            </a:pPr>
            <a:r>
              <a:t>Chicilon Media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76523" y="2468880"/>
            <a:ext cx="2791891" cy="502920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349675" y="2578608"/>
            <a:ext cx="2682163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A1A2E"/>
                </a:solidFill>
              </a:defRPr>
            </a:pPr>
            <a:r>
              <a:t>Elevator screens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095847" y="2468880"/>
            <a:ext cx="2791891" cy="502920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68999" y="2578608"/>
            <a:ext cx="2682163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A1A2E"/>
                </a:solidFill>
              </a:defRPr>
            </a:pPr>
            <a:r>
              <a:t>❌ Static only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915171" y="2468880"/>
            <a:ext cx="2791891" cy="502920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88323" y="2578608"/>
            <a:ext cx="2682163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A1A2E"/>
                </a:solidFill>
              </a:defRPr>
            </a:pPr>
            <a:r>
              <a:t>❌ No taxis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2971800"/>
            <a:ext cx="2791891" cy="502920"/>
          </a:xfrm>
          <a:prstGeom prst="rect">
            <a:avLst/>
          </a:prstGeom>
          <a:solidFill>
            <a:srgbClr val="F3F4F6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30352" y="3081528"/>
            <a:ext cx="2682163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A1A2E"/>
                </a:solidFill>
              </a:defRPr>
            </a:pPr>
            <a:r>
              <a:t>SHOJIKI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76523" y="2971800"/>
            <a:ext cx="2791891" cy="502920"/>
          </a:xfrm>
          <a:prstGeom prst="rect">
            <a:avLst/>
          </a:prstGeom>
          <a:solidFill>
            <a:srgbClr val="F3F4F6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349675" y="3081528"/>
            <a:ext cx="2682163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A1A2E"/>
                </a:solidFill>
              </a:defRPr>
            </a:pPr>
            <a:r>
              <a:t>Taxi advertising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95847" y="2971800"/>
            <a:ext cx="2791891" cy="502920"/>
          </a:xfrm>
          <a:prstGeom prst="rect">
            <a:avLst/>
          </a:prstGeom>
          <a:solidFill>
            <a:srgbClr val="F3F4F6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68999" y="3081528"/>
            <a:ext cx="2682163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A1A2E"/>
                </a:solidFill>
              </a:defRPr>
            </a:pPr>
            <a:r>
              <a:t>❌ Static wraps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915171" y="2971800"/>
            <a:ext cx="2791891" cy="502920"/>
          </a:xfrm>
          <a:prstGeom prst="rect">
            <a:avLst/>
          </a:prstGeom>
          <a:solidFill>
            <a:srgbClr val="F3F4F6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988323" y="3081528"/>
            <a:ext cx="2682163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A1A2E"/>
                </a:solidFill>
              </a:defRPr>
            </a:pPr>
            <a:r>
              <a:t>❌ No measurement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3474720"/>
            <a:ext cx="2791891" cy="502920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30352" y="3584448"/>
            <a:ext cx="2682163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A1A2E"/>
                </a:solidFill>
              </a:defRPr>
            </a:pPr>
            <a:r>
              <a:t>Taxi Ads VN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276523" y="3474720"/>
            <a:ext cx="2791891" cy="502920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349675" y="3584448"/>
            <a:ext cx="2682163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A1A2E"/>
                </a:solidFill>
              </a:defRPr>
            </a:pPr>
            <a:r>
              <a:t>Taxi advertising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095847" y="3474720"/>
            <a:ext cx="2791891" cy="502920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68999" y="3584448"/>
            <a:ext cx="2682163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A1A2E"/>
                </a:solidFill>
              </a:defRPr>
            </a:pPr>
            <a:r>
              <a:t>❌ Static decals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915171" y="3474720"/>
            <a:ext cx="2791891" cy="502920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988323" y="3584448"/>
            <a:ext cx="2682163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A1A2E"/>
                </a:solidFill>
              </a:defRPr>
            </a:pPr>
            <a:r>
              <a:t>❌ No targeting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65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STRATEGIC ASSET: XanhSM — Vietnam's #1 Ride-Hailing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3727" y="1645920"/>
            <a:ext cx="2560320" cy="1645920"/>
          </a:xfrm>
          <a:prstGeom prst="roundRect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3727" y="1874520"/>
            <a:ext cx="25603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40%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3727" y="2560320"/>
            <a:ext cx="25603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Market Share</a:t>
            </a:r>
            <a:br/>
            <a:r>
              <a:t>#1 in Vietnam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98367" y="1645920"/>
            <a:ext cx="2560320" cy="1645920"/>
          </a:xfrm>
          <a:prstGeom prst="roundRect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98367" y="1874520"/>
            <a:ext cx="25603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30,000+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98367" y="2560320"/>
            <a:ext cx="25603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Electric Taxis</a:t>
            </a:r>
            <a:br/>
            <a:r>
              <a:t>100K total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3007" y="1645920"/>
            <a:ext cx="2560320" cy="1645920"/>
          </a:xfrm>
          <a:prstGeom prst="roundRect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33007" y="1874520"/>
            <a:ext cx="25603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56/63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33007" y="2560320"/>
            <a:ext cx="25603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Provinces</a:t>
            </a:r>
            <a:br/>
            <a:r>
              <a:t>National Coverage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67647" y="1645920"/>
            <a:ext cx="2560320" cy="1645920"/>
          </a:xfrm>
          <a:prstGeom prst="roundRect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67647" y="1874520"/>
            <a:ext cx="25603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83%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67647" y="2560320"/>
            <a:ext cx="25603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Satisfaction</a:t>
            </a:r>
            <a:br/>
            <a:r>
              <a:t>vs Grab 80%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84048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1A1A2E"/>
                </a:solidFill>
              </a:defRPr>
            </a:pPr>
            <a:r>
              <a:t>✅ Overtook Grab in Q1 2025 — fastest growing</a:t>
            </a:r>
          </a:p>
          <a:p>
            <a:pPr>
              <a:spcAft>
                <a:spcPts val="800"/>
              </a:spcAft>
              <a:defRPr sz="2000">
                <a:solidFill>
                  <a:srgbClr val="1A1A2E"/>
                </a:solidFill>
              </a:defRPr>
            </a:pPr>
            <a:r>
              <a:t>✅ In-car 10" screens already installed (VinFast VF e34)</a:t>
            </a:r>
          </a:p>
          <a:p>
            <a:pPr>
              <a:spcAft>
                <a:spcPts val="800"/>
              </a:spcAft>
              <a:defRPr sz="2000">
                <a:solidFill>
                  <a:srgbClr val="1A1A2E"/>
                </a:solidFill>
              </a:defRPr>
            </a:pPr>
            <a:r>
              <a:t>✅ Premium audience — affluent urban professionals</a:t>
            </a:r>
          </a:p>
          <a:p>
            <a:pPr>
              <a:spcAft>
                <a:spcPts val="800"/>
              </a:spcAft>
              <a:defRPr sz="2000">
                <a:solidFill>
                  <a:srgbClr val="1A1A2E"/>
                </a:solidFill>
              </a:defRPr>
            </a:pPr>
            <a:r>
              <a:t>✅ No existing ad partnerships — greenfield opportunity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65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HOW IT WORKS: Programmatic Taxi Advertising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1A1A2E"/>
                </a:solidFill>
              </a:defRPr>
            </a:pPr>
            <a:r>
              <a:t>ADVERTISER → PLATFORM → TAXI SCREEN → PASSENGER</a:t>
            </a:r>
          </a:p>
          <a:p>
            <a:pPr>
              <a:spcAft>
                <a:spcPts val="1000"/>
              </a:spcAft>
              <a:defRPr sz="2200">
                <a:solidFill>
                  <a:srgbClr val="1A1A2E"/>
                </a:solidFill>
              </a:defRPr>
            </a:pPr>
          </a:p>
          <a:p>
            <a:pPr>
              <a:spcAft>
                <a:spcPts val="1000"/>
              </a:spcAft>
              <a:defRPr sz="2200">
                <a:solidFill>
                  <a:srgbClr val="1A1A2E"/>
                </a:solidFill>
              </a:defRPr>
            </a:pPr>
            <a:r>
              <a:t>1️⃣  Advertiser sets target: "Show ads near my stores in District 1"</a:t>
            </a:r>
          </a:p>
          <a:p>
            <a:pPr>
              <a:spcAft>
                <a:spcPts val="1000"/>
              </a:spcAft>
              <a:defRPr sz="2200">
                <a:solidFill>
                  <a:srgbClr val="1A1A2E"/>
                </a:solidFill>
              </a:defRPr>
            </a:pPr>
            <a:r>
              <a:t>2️⃣  Platform matches taxis passing through target areas (GPS)</a:t>
            </a:r>
          </a:p>
          <a:p>
            <a:pPr>
              <a:spcAft>
                <a:spcPts val="1000"/>
              </a:spcAft>
              <a:defRPr sz="2200">
                <a:solidFill>
                  <a:srgbClr val="1A1A2E"/>
                </a:solidFill>
              </a:defRPr>
            </a:pPr>
            <a:r>
              <a:t>3️⃣  10" screen displays dynamic ad to captive passenger</a:t>
            </a:r>
          </a:p>
          <a:p>
            <a:pPr>
              <a:spcAft>
                <a:spcPts val="1000"/>
              </a:spcAft>
              <a:defRPr sz="2200">
                <a:solidFill>
                  <a:srgbClr val="1A1A2E"/>
                </a:solidFill>
              </a:defRPr>
            </a:pPr>
            <a:r>
              <a:t>4️⃣  Dashboard shows real-time analytics and verified impressions</a:t>
            </a:r>
          </a:p>
          <a:p>
            <a:pPr>
              <a:spcAft>
                <a:spcPts val="1000"/>
              </a:spcAft>
              <a:defRPr sz="2200">
                <a:solidFill>
                  <a:srgbClr val="1A1A2E"/>
                </a:solidFill>
              </a:defRPr>
            </a:pPr>
          </a:p>
          <a:p>
            <a:pPr>
              <a:spcAft>
                <a:spcPts val="1000"/>
              </a:spcAft>
              <a:defRPr sz="2200">
                <a:solidFill>
                  <a:srgbClr val="1A1A2E"/>
                </a:solidFill>
              </a:defRPr>
            </a:pPr>
            <a:r>
              <a:t>Average ride: 8+ minutes of engagement (vs 5-7 sec billboard)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65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TARGET CUSTOMERS: Who Buys OOH in Vietnam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1A1A2E"/>
                </a:solidFill>
              </a:defRPr>
            </a:pPr>
            <a:r>
              <a:t>OOH Spend by Segment:</a:t>
            </a:r>
          </a:p>
          <a:p>
            <a:pPr>
              <a:spcAft>
                <a:spcPts val="1000"/>
              </a:spcAft>
              <a:defRPr sz="2200">
                <a:solidFill>
                  <a:srgbClr val="1A1A2E"/>
                </a:solidFill>
              </a:defRPr>
            </a:pPr>
          </a:p>
          <a:p>
            <a:pPr>
              <a:spcAft>
                <a:spcPts val="1000"/>
              </a:spcAft>
              <a:defRPr sz="2200">
                <a:solidFill>
                  <a:srgbClr val="1A1A2E"/>
                </a:solidFill>
              </a:defRPr>
            </a:pPr>
            <a:r>
              <a:t>████████████████  FMCG/Retail — 44.5% (Vinamilk, Masan, Unilever)</a:t>
            </a:r>
          </a:p>
          <a:p>
            <a:pPr>
              <a:spcAft>
                <a:spcPts val="1000"/>
              </a:spcAft>
              <a:defRPr sz="2200">
                <a:solidFill>
                  <a:srgbClr val="1A1A2E"/>
                </a:solidFill>
              </a:defRPr>
            </a:pPr>
            <a:r>
              <a:t>████████  Real Estate — 15%</a:t>
            </a:r>
          </a:p>
          <a:p>
            <a:pPr>
              <a:spcAft>
                <a:spcPts val="1000"/>
              </a:spcAft>
              <a:defRPr sz="2200">
                <a:solidFill>
                  <a:srgbClr val="1A1A2E"/>
                </a:solidFill>
              </a:defRPr>
            </a:pPr>
            <a:r>
              <a:t>██████  Automotive — 10%</a:t>
            </a:r>
          </a:p>
          <a:p>
            <a:pPr>
              <a:spcAft>
                <a:spcPts val="1000"/>
              </a:spcAft>
              <a:defRPr sz="2200">
                <a:solidFill>
                  <a:srgbClr val="1A1A2E"/>
                </a:solidFill>
              </a:defRPr>
            </a:pPr>
            <a:r>
              <a:t>██████  Tech/Telecom — 10%</a:t>
            </a:r>
          </a:p>
          <a:p>
            <a:pPr>
              <a:spcAft>
                <a:spcPts val="1000"/>
              </a:spcAft>
              <a:defRPr sz="2200">
                <a:solidFill>
                  <a:srgbClr val="1A1A2E"/>
                </a:solidFill>
              </a:defRPr>
            </a:pPr>
            <a:r>
              <a:t>████  F&amp;B — 8%</a:t>
            </a:r>
          </a:p>
          <a:p>
            <a:pPr>
              <a:spcAft>
                <a:spcPts val="1000"/>
              </a:spcAft>
              <a:defRPr sz="2200">
                <a:solidFill>
                  <a:srgbClr val="1A1A2E"/>
                </a:solidFill>
              </a:defRPr>
            </a:pPr>
          </a:p>
          <a:p>
            <a:pPr>
              <a:spcAft>
                <a:spcPts val="1000"/>
              </a:spcAft>
              <a:defRPr sz="2200">
                <a:solidFill>
                  <a:srgbClr val="1A1A2E"/>
                </a:solidFill>
              </a:defRPr>
            </a:pPr>
            <a:r>
              <a:t>Primary Agency Targets: GroupM, Dentsu, Publicis, Omnicom, IPG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5669280"/>
            <a:ext cx="11277295" cy="822960"/>
          </a:xfrm>
          <a:prstGeom prst="roundRect">
            <a:avLst/>
          </a:prstGeom>
          <a:solidFill>
            <a:srgbClr val="F3F4F6"/>
          </a:solidFill>
          <a:ln>
            <a:solidFill>
              <a:srgbClr val="5B8D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58064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1652F0"/>
                </a:solidFill>
              </a:defRPr>
            </a:pPr>
            <a:r>
              <a:t>78% of digital ad spend will be programmatic by 2028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65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VALUE PROPOSITION: Why Advertisers Choose Us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463040"/>
            <a:ext cx="3731666" cy="502920"/>
          </a:xfrm>
          <a:prstGeom prst="rect">
            <a:avLst/>
          </a:prstGeom>
          <a:solidFill>
            <a:srgbClr val="165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72768"/>
            <a:ext cx="3667658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Feature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4216298" y="1463040"/>
            <a:ext cx="3731666" cy="502920"/>
          </a:xfrm>
          <a:prstGeom prst="rect">
            <a:avLst/>
          </a:prstGeom>
          <a:solidFill>
            <a:srgbClr val="165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62018" y="1572768"/>
            <a:ext cx="3667658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Static Billboards</a:t>
            </a:r>
          </a:p>
        </p:txBody>
      </p:sp>
      <p:sp>
        <p:nvSpPr>
          <p:cNvPr id="8" name="Rectangle 7"/>
          <p:cNvSpPr/>
          <p:nvPr/>
        </p:nvSpPr>
        <p:spPr>
          <a:xfrm>
            <a:off x="7975396" y="1463040"/>
            <a:ext cx="3731666" cy="502920"/>
          </a:xfrm>
          <a:prstGeom prst="rect">
            <a:avLst/>
          </a:prstGeom>
          <a:solidFill>
            <a:srgbClr val="165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21116" y="1572768"/>
            <a:ext cx="3667658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Our Platform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965960"/>
            <a:ext cx="3731666" cy="502920"/>
          </a:xfrm>
          <a:prstGeom prst="rect">
            <a:avLst/>
          </a:prstGeom>
          <a:solidFill>
            <a:srgbClr val="F3F4F6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0352" y="2075688"/>
            <a:ext cx="3621938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A1A2E"/>
                </a:solidFill>
              </a:defRPr>
            </a:pPr>
            <a:r>
              <a:t>Measurement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16298" y="1965960"/>
            <a:ext cx="3731666" cy="502920"/>
          </a:xfrm>
          <a:prstGeom prst="rect">
            <a:avLst/>
          </a:prstGeom>
          <a:solidFill>
            <a:srgbClr val="F3F4F6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89450" y="2075688"/>
            <a:ext cx="3621938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A1A2E"/>
                </a:solidFill>
              </a:defRPr>
            </a:pPr>
            <a:r>
              <a:t>❌ Traffic estimates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975396" y="1965960"/>
            <a:ext cx="3731666" cy="502920"/>
          </a:xfrm>
          <a:prstGeom prst="rect">
            <a:avLst/>
          </a:prstGeom>
          <a:solidFill>
            <a:srgbClr val="F3F4F6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8548" y="2075688"/>
            <a:ext cx="3621938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A1A2E"/>
                </a:solidFill>
              </a:defRPr>
            </a:pPr>
            <a:r>
              <a:t>✅ GPS-verified impressions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468880"/>
            <a:ext cx="3731666" cy="502920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0352" y="2578608"/>
            <a:ext cx="3621938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A1A2E"/>
                </a:solidFill>
              </a:defRPr>
            </a:pPr>
            <a:r>
              <a:t>Targeting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16298" y="2468880"/>
            <a:ext cx="3731666" cy="502920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89450" y="2578608"/>
            <a:ext cx="3621938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A1A2E"/>
                </a:solidFill>
              </a:defRPr>
            </a:pPr>
            <a:r>
              <a:t>❌ Everyone sees it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975396" y="2468880"/>
            <a:ext cx="3731666" cy="502920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48548" y="2578608"/>
            <a:ext cx="3621938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A1A2E"/>
                </a:solidFill>
              </a:defRPr>
            </a:pPr>
            <a:r>
              <a:t>✅ Geo-fence, daypart, demographics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2971800"/>
            <a:ext cx="3731666" cy="502920"/>
          </a:xfrm>
          <a:prstGeom prst="rect">
            <a:avLst/>
          </a:prstGeom>
          <a:solidFill>
            <a:srgbClr val="F3F4F6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0352" y="3081528"/>
            <a:ext cx="3621938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A1A2E"/>
                </a:solidFill>
              </a:defRPr>
            </a:pPr>
            <a:r>
              <a:t>Commitment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16298" y="2971800"/>
            <a:ext cx="3731666" cy="502920"/>
          </a:xfrm>
          <a:prstGeom prst="rect">
            <a:avLst/>
          </a:prstGeom>
          <a:solidFill>
            <a:srgbClr val="F3F4F6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289450" y="3081528"/>
            <a:ext cx="3621938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A1A2E"/>
                </a:solidFill>
              </a:defRPr>
            </a:pPr>
            <a:r>
              <a:t>❌ 3-6 month contracts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975396" y="2971800"/>
            <a:ext cx="3731666" cy="502920"/>
          </a:xfrm>
          <a:prstGeom prst="rect">
            <a:avLst/>
          </a:prstGeom>
          <a:solidFill>
            <a:srgbClr val="F3F4F6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8548" y="3081528"/>
            <a:ext cx="3621938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A1A2E"/>
                </a:solidFill>
              </a:defRPr>
            </a:pPr>
            <a:r>
              <a:t>✅ Launch same-day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3474720"/>
            <a:ext cx="3731666" cy="502920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30352" y="3584448"/>
            <a:ext cx="3621938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A1A2E"/>
                </a:solidFill>
              </a:defRPr>
            </a:pPr>
            <a:r>
              <a:t>CPM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216298" y="3474720"/>
            <a:ext cx="3731666" cy="502920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289450" y="3584448"/>
            <a:ext cx="3621938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A1A2E"/>
                </a:solidFill>
              </a:defRPr>
            </a:pPr>
            <a:r>
              <a:t>$5-8 (no proof)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975396" y="3474720"/>
            <a:ext cx="3731666" cy="502920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48548" y="3584448"/>
            <a:ext cx="3621938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A1A2E"/>
                </a:solidFill>
              </a:defRPr>
            </a:pPr>
            <a:r>
              <a:t>$8-12 (verified)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3977640"/>
            <a:ext cx="3731666" cy="502920"/>
          </a:xfrm>
          <a:prstGeom prst="rect">
            <a:avLst/>
          </a:prstGeom>
          <a:solidFill>
            <a:srgbClr val="F3F4F6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30352" y="4087368"/>
            <a:ext cx="3621938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A1A2E"/>
                </a:solidFill>
              </a:defRPr>
            </a:pPr>
            <a:r>
              <a:t>Creative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216298" y="3977640"/>
            <a:ext cx="3731666" cy="502920"/>
          </a:xfrm>
          <a:prstGeom prst="rect">
            <a:avLst/>
          </a:prstGeom>
          <a:solidFill>
            <a:srgbClr val="F3F4F6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289450" y="4087368"/>
            <a:ext cx="3621938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A1A2E"/>
                </a:solidFill>
              </a:defRPr>
            </a:pPr>
            <a:r>
              <a:t>❌ Static image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975396" y="3977640"/>
            <a:ext cx="3731666" cy="502920"/>
          </a:xfrm>
          <a:prstGeom prst="rect">
            <a:avLst/>
          </a:prstGeom>
          <a:solidFill>
            <a:srgbClr val="F3F4F6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048548" y="4087368"/>
            <a:ext cx="3621938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A1A2E"/>
                </a:solidFill>
              </a:defRPr>
            </a:pPr>
            <a:r>
              <a:t>✅ Dynamic (weather, time, location)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7200" y="4480560"/>
            <a:ext cx="3731666" cy="502920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30352" y="4590288"/>
            <a:ext cx="3621938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A1A2E"/>
                </a:solidFill>
              </a:defRPr>
            </a:pPr>
            <a:r>
              <a:t>Reach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216298" y="4480560"/>
            <a:ext cx="3731666" cy="502920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289450" y="4590288"/>
            <a:ext cx="3621938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A1A2E"/>
                </a:solidFill>
              </a:defRPr>
            </a:pPr>
            <a:r>
              <a:t>❌ Fixed location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975396" y="4480560"/>
            <a:ext cx="3731666" cy="502920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048548" y="4590288"/>
            <a:ext cx="3621938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A1A2E"/>
                </a:solidFill>
              </a:defRPr>
            </a:pPr>
            <a:r>
              <a:t>✅ 30,000+ moving taxis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65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BUSINESS MODEL: Revenue Sharing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1A1A2E"/>
                </a:solidFill>
              </a:defRPr>
            </a:pPr>
            <a:r>
              <a:t>Advertiser pays $10 CPM</a:t>
            </a:r>
          </a:p>
          <a:p>
            <a:pPr>
              <a:spcAft>
                <a:spcPts val="1000"/>
              </a:spcAft>
              <a:defRPr sz="2200">
                <a:solidFill>
                  <a:srgbClr val="1A1A2E"/>
                </a:solidFill>
              </a:defRPr>
            </a:pPr>
          </a:p>
          <a:p>
            <a:pPr>
              <a:spcAft>
                <a:spcPts val="1000"/>
              </a:spcAft>
              <a:defRPr sz="2200">
                <a:solidFill>
                  <a:srgbClr val="1A1A2E"/>
                </a:solidFill>
              </a:defRPr>
            </a:pPr>
            <a:r>
              <a:t>                    ↓</a:t>
            </a:r>
          </a:p>
          <a:p>
            <a:pPr>
              <a:spcAft>
                <a:spcPts val="1000"/>
              </a:spcAft>
              <a:defRPr sz="2200">
                <a:solidFill>
                  <a:srgbClr val="1A1A2E"/>
                </a:solidFill>
              </a:defRPr>
            </a:pPr>
          </a:p>
          <a:p>
            <a:pPr>
              <a:spcAft>
                <a:spcPts val="1000"/>
              </a:spcAft>
              <a:defRPr sz="2200">
                <a:solidFill>
                  <a:srgbClr val="1A1A2E"/>
                </a:solidFill>
              </a:defRPr>
            </a:pPr>
            <a:r>
              <a:t>    PLATFORM (60% = $6)           XanhSM (40% = $4)</a:t>
            </a:r>
          </a:p>
          <a:p>
            <a:pPr>
              <a:spcAft>
                <a:spcPts val="1000"/>
              </a:spcAft>
              <a:defRPr sz="2200">
                <a:solidFill>
                  <a:srgbClr val="1A1A2E"/>
                </a:solidFill>
              </a:defRPr>
            </a:pPr>
            <a:r>
              <a:t>    • Inventory management         • Fleet access</a:t>
            </a:r>
          </a:p>
          <a:p>
            <a:pPr>
              <a:spcAft>
                <a:spcPts val="1000"/>
              </a:spcAft>
              <a:defRPr sz="2200">
                <a:solidFill>
                  <a:srgbClr val="1A1A2E"/>
                </a:solidFill>
              </a:defRPr>
            </a:pPr>
            <a:r>
              <a:t>    • DSP integration              • Driver coordination</a:t>
            </a:r>
          </a:p>
          <a:p>
            <a:pPr>
              <a:spcAft>
                <a:spcPts val="1000"/>
              </a:spcAft>
              <a:defRPr sz="2200">
                <a:solidFill>
                  <a:srgbClr val="1A1A2E"/>
                </a:solidFill>
              </a:defRPr>
            </a:pPr>
            <a:r>
              <a:t>    • Real-time dashboard          • Installation support</a:t>
            </a:r>
          </a:p>
          <a:p>
            <a:pPr>
              <a:spcAft>
                <a:spcPts val="1000"/>
              </a:spcAft>
              <a:defRPr sz="2200">
                <a:solidFill>
                  <a:srgbClr val="1A1A2E"/>
                </a:solidFill>
              </a:defRPr>
            </a:pPr>
          </a:p>
          <a:p>
            <a:pPr>
              <a:spcAft>
                <a:spcPts val="1000"/>
              </a:spcAft>
              <a:defRPr sz="2200">
                <a:solidFill>
                  <a:srgbClr val="1A1A2E"/>
                </a:solidFill>
              </a:defRPr>
            </a:pPr>
            <a:r>
              <a:t>Hardware: $200/vehicle (one-time) — paid by platform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65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FINANCIAL PROJECTIONS: Path to $9.5M Revenue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981047" y="1645920"/>
            <a:ext cx="2560320" cy="1645920"/>
          </a:xfrm>
          <a:prstGeom prst="roundRect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981047" y="1874520"/>
            <a:ext cx="25603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$1.9M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81047" y="2560320"/>
            <a:ext cx="25603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Year 1</a:t>
            </a:r>
            <a:br/>
            <a:r>
              <a:t>1,000 taxis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15687" y="1645920"/>
            <a:ext cx="2560320" cy="1645920"/>
          </a:xfrm>
          <a:prstGeom prst="roundRect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15687" y="1874520"/>
            <a:ext cx="25603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$4.5M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15687" y="2560320"/>
            <a:ext cx="25603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Year 2</a:t>
            </a:r>
            <a:br/>
            <a:r>
              <a:t>3,000 taxis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50327" y="1645920"/>
            <a:ext cx="2560320" cy="1645920"/>
          </a:xfrm>
          <a:prstGeom prst="roundRect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50327" y="1874520"/>
            <a:ext cx="25603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$9.5M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50327" y="2560320"/>
            <a:ext cx="25603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Year 3</a:t>
            </a:r>
            <a:br/>
            <a:r>
              <a:t>5,000 taxis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84048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1A1A2E"/>
                </a:solidFill>
              </a:defRPr>
            </a:pPr>
            <a:r>
              <a:t>Assumptions:</a:t>
            </a:r>
          </a:p>
          <a:p>
            <a:pPr>
              <a:spcAft>
                <a:spcPts val="800"/>
              </a:spcAft>
              <a:defRPr sz="2000">
                <a:solidFill>
                  <a:srgbClr val="1A1A2E"/>
                </a:solidFill>
              </a:defRPr>
            </a:pPr>
            <a:r>
              <a:t>• $10 CPM average</a:t>
            </a:r>
          </a:p>
          <a:p>
            <a:pPr>
              <a:spcAft>
                <a:spcPts val="800"/>
              </a:spcAft>
              <a:defRPr sz="2000">
                <a:solidFill>
                  <a:srgbClr val="1A1A2E"/>
                </a:solidFill>
              </a:defRPr>
            </a:pPr>
            <a:r>
              <a:t>• 8 hours/day operation, 60 ads/hour</a:t>
            </a:r>
          </a:p>
          <a:p>
            <a:pPr>
              <a:spcAft>
                <a:spcPts val="800"/>
              </a:spcAft>
              <a:defRPr sz="2000">
                <a:solidFill>
                  <a:srgbClr val="1A1A2E"/>
                </a:solidFill>
              </a:defRPr>
            </a:pPr>
            <a:r>
              <a:t>• 60/40 revenue split (platform/XanhSM)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65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TOP HYPOTHESES: What We Need to Prove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1A1A2E"/>
                </a:solidFill>
              </a:defRPr>
            </a:pPr>
            <a:r>
              <a:t>DESIRABILITY — "Do they want this?"</a:t>
            </a:r>
          </a:p>
          <a:p>
            <a:pPr>
              <a:spcAft>
                <a:spcPts val="1000"/>
              </a:spcAft>
              <a:defRPr sz="2200">
                <a:solidFill>
                  <a:srgbClr val="1A1A2E"/>
                </a:solidFill>
              </a:defRPr>
            </a:pPr>
            <a:r>
              <a:t>  #1  FMCG brands will commit $50K+ to 3-month pilot</a:t>
            </a:r>
          </a:p>
          <a:p>
            <a:pPr>
              <a:spcAft>
                <a:spcPts val="1000"/>
              </a:spcAft>
              <a:defRPr sz="2200">
                <a:solidFill>
                  <a:srgbClr val="1A1A2E"/>
                </a:solidFill>
              </a:defRPr>
            </a:pPr>
            <a:r>
              <a:t>  #2  Agencies rank "real-time data" as #1 must-have feature</a:t>
            </a:r>
          </a:p>
          <a:p>
            <a:pPr>
              <a:spcAft>
                <a:spcPts val="1000"/>
              </a:spcAft>
              <a:defRPr sz="2200">
                <a:solidFill>
                  <a:srgbClr val="1A1A2E"/>
                </a:solidFill>
              </a:defRPr>
            </a:pPr>
            <a:r>
              <a:t>  #4  Advertisers will pay $8-12 CPM (30-50% premium)</a:t>
            </a:r>
          </a:p>
          <a:p>
            <a:pPr>
              <a:spcAft>
                <a:spcPts val="1000"/>
              </a:spcAft>
              <a:defRPr sz="2200">
                <a:solidFill>
                  <a:srgbClr val="1A1A2E"/>
                </a:solidFill>
              </a:defRPr>
            </a:pPr>
          </a:p>
          <a:p>
            <a:pPr>
              <a:spcAft>
                <a:spcPts val="1000"/>
              </a:spcAft>
              <a:defRPr sz="2200">
                <a:solidFill>
                  <a:srgbClr val="1A1A2E"/>
                </a:solidFill>
              </a:defRPr>
            </a:pPr>
            <a:r>
              <a:t>FEASIBILITY — "Can we do this?"</a:t>
            </a:r>
          </a:p>
          <a:p>
            <a:pPr>
              <a:spcAft>
                <a:spcPts val="1000"/>
              </a:spcAft>
              <a:defRPr sz="2200">
                <a:solidFill>
                  <a:srgbClr val="1A1A2E"/>
                </a:solidFill>
              </a:defRPr>
            </a:pPr>
            <a:r>
              <a:t>  #3  XanhSM grants 1,000 taxis, ≤$200/vehicle, 90 days</a:t>
            </a:r>
          </a:p>
          <a:p>
            <a:pPr>
              <a:spcAft>
                <a:spcPts val="1000"/>
              </a:spcAft>
              <a:defRPr sz="2200">
                <a:solidFill>
                  <a:srgbClr val="1A1A2E"/>
                </a:solidFill>
              </a:defRPr>
            </a:pPr>
            <a:r>
              <a:t>  #5  DSP integration (Trade Desk, DV360) feasible in 6 months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65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EXPERIMENT PLAN: 9 Weeks to Validation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463040"/>
            <a:ext cx="2228027" cy="502920"/>
          </a:xfrm>
          <a:prstGeom prst="rect">
            <a:avLst/>
          </a:prstGeom>
          <a:solidFill>
            <a:srgbClr val="165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72768"/>
            <a:ext cx="2164019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#</a:t>
            </a:r>
          </a:p>
        </p:txBody>
      </p:sp>
      <p:sp>
        <p:nvSpPr>
          <p:cNvPr id="6" name="Rectangle 5"/>
          <p:cNvSpPr/>
          <p:nvPr/>
        </p:nvSpPr>
        <p:spPr>
          <a:xfrm>
            <a:off x="2712659" y="1463040"/>
            <a:ext cx="2228027" cy="502920"/>
          </a:xfrm>
          <a:prstGeom prst="rect">
            <a:avLst/>
          </a:prstGeom>
          <a:solidFill>
            <a:srgbClr val="165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58379" y="1572768"/>
            <a:ext cx="2164019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Experiment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4968118" y="1463040"/>
            <a:ext cx="2228027" cy="502920"/>
          </a:xfrm>
          <a:prstGeom prst="rect">
            <a:avLst/>
          </a:prstGeom>
          <a:solidFill>
            <a:srgbClr val="165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13838" y="1572768"/>
            <a:ext cx="2164019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Duration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7223577" y="1463040"/>
            <a:ext cx="2228027" cy="502920"/>
          </a:xfrm>
          <a:prstGeom prst="rect">
            <a:avLst/>
          </a:prstGeom>
          <a:solidFill>
            <a:srgbClr val="165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69297" y="1572768"/>
            <a:ext cx="2164019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Cost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479036" y="1463040"/>
            <a:ext cx="2228027" cy="502920"/>
          </a:xfrm>
          <a:prstGeom prst="rect">
            <a:avLst/>
          </a:prstGeom>
          <a:solidFill>
            <a:srgbClr val="165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524756" y="1572768"/>
            <a:ext cx="2164019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Evidence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1965960"/>
            <a:ext cx="2228027" cy="502920"/>
          </a:xfrm>
          <a:prstGeom prst="rect">
            <a:avLst/>
          </a:prstGeom>
          <a:solidFill>
            <a:srgbClr val="F3F4F6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0352" y="2075688"/>
            <a:ext cx="2118299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A1A2E"/>
                </a:solidFill>
              </a:defRPr>
            </a:pPr>
            <a:r>
              <a:t>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12659" y="1965960"/>
            <a:ext cx="2228027" cy="502920"/>
          </a:xfrm>
          <a:prstGeom prst="rect">
            <a:avLst/>
          </a:prstGeom>
          <a:solidFill>
            <a:srgbClr val="F3F4F6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85811" y="2075688"/>
            <a:ext cx="2118299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A1A2E"/>
                </a:solidFill>
              </a:defRPr>
            </a:pPr>
            <a:r>
              <a:t>Media Buyer Survey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968118" y="1965960"/>
            <a:ext cx="2228027" cy="502920"/>
          </a:xfrm>
          <a:prstGeom prst="rect">
            <a:avLst/>
          </a:prstGeom>
          <a:solidFill>
            <a:srgbClr val="F3F4F6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41270" y="2075688"/>
            <a:ext cx="2118299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A1A2E"/>
                </a:solidFill>
              </a:defRPr>
            </a:pPr>
            <a:r>
              <a:t>2 weeks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223577" y="1965960"/>
            <a:ext cx="2228027" cy="502920"/>
          </a:xfrm>
          <a:prstGeom prst="rect">
            <a:avLst/>
          </a:prstGeom>
          <a:solidFill>
            <a:srgbClr val="F3F4F6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296729" y="2075688"/>
            <a:ext cx="2118299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A1A2E"/>
                </a:solidFill>
              </a:defRPr>
            </a:pPr>
            <a:r>
              <a:t>$0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479036" y="1965960"/>
            <a:ext cx="2228027" cy="502920"/>
          </a:xfrm>
          <a:prstGeom prst="rect">
            <a:avLst/>
          </a:prstGeom>
          <a:solidFill>
            <a:srgbClr val="F3F4F6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552188" y="2075688"/>
            <a:ext cx="2118299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A1A2E"/>
                </a:solidFill>
              </a:defRPr>
            </a:pPr>
            <a:r>
              <a:t>Weak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2468880"/>
            <a:ext cx="2228027" cy="502920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0352" y="2578608"/>
            <a:ext cx="2118299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A1A2E"/>
                </a:solidFill>
              </a:defRPr>
            </a:pPr>
            <a:r>
              <a:t>2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12659" y="2468880"/>
            <a:ext cx="2228027" cy="502920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785811" y="2578608"/>
            <a:ext cx="2118299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A1A2E"/>
                </a:solidFill>
              </a:defRPr>
            </a:pPr>
            <a:r>
              <a:t>Agency Interviews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968118" y="2468880"/>
            <a:ext cx="2228027" cy="502920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41270" y="2578608"/>
            <a:ext cx="2118299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A1A2E"/>
                </a:solidFill>
              </a:defRPr>
            </a:pPr>
            <a:r>
              <a:t>3 weeks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223577" y="2468880"/>
            <a:ext cx="2228027" cy="502920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296729" y="2578608"/>
            <a:ext cx="2118299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A1A2E"/>
                </a:solidFill>
              </a:defRPr>
            </a:pPr>
            <a:r>
              <a:t>$500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479036" y="2468880"/>
            <a:ext cx="2228027" cy="502920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552188" y="2578608"/>
            <a:ext cx="2118299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A1A2E"/>
                </a:solidFill>
              </a:defRPr>
            </a:pPr>
            <a:r>
              <a:t>Medium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2971800"/>
            <a:ext cx="2228027" cy="502920"/>
          </a:xfrm>
          <a:prstGeom prst="rect">
            <a:avLst/>
          </a:prstGeom>
          <a:solidFill>
            <a:srgbClr val="F3F4F6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30352" y="3081528"/>
            <a:ext cx="2118299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A1A2E"/>
                </a:solidFill>
              </a:defRPr>
            </a:pPr>
            <a:r>
              <a:t>3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12659" y="2971800"/>
            <a:ext cx="2228027" cy="502920"/>
          </a:xfrm>
          <a:prstGeom prst="rect">
            <a:avLst/>
          </a:prstGeom>
          <a:solidFill>
            <a:srgbClr val="F3F4F6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785811" y="3081528"/>
            <a:ext cx="2118299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A1A2E"/>
                </a:solidFill>
              </a:defRPr>
            </a:pPr>
            <a:r>
              <a:t>XanhSM Partnership LOI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968118" y="2971800"/>
            <a:ext cx="2228027" cy="502920"/>
          </a:xfrm>
          <a:prstGeom prst="rect">
            <a:avLst/>
          </a:prstGeom>
          <a:solidFill>
            <a:srgbClr val="F3F4F6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041270" y="3081528"/>
            <a:ext cx="2118299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A1A2E"/>
                </a:solidFill>
              </a:defRPr>
            </a:pPr>
            <a:r>
              <a:t>4 weeks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223577" y="2971800"/>
            <a:ext cx="2228027" cy="502920"/>
          </a:xfrm>
          <a:prstGeom prst="rect">
            <a:avLst/>
          </a:prstGeom>
          <a:solidFill>
            <a:srgbClr val="F3F4F6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296729" y="3081528"/>
            <a:ext cx="2118299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A1A2E"/>
                </a:solidFill>
              </a:defRPr>
            </a:pPr>
            <a:r>
              <a:t>$0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479036" y="2971800"/>
            <a:ext cx="2228027" cy="502920"/>
          </a:xfrm>
          <a:prstGeom prst="rect">
            <a:avLst/>
          </a:prstGeom>
          <a:solidFill>
            <a:srgbClr val="F3F4F6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552188" y="3081528"/>
            <a:ext cx="2118299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A1A2E"/>
                </a:solidFill>
              </a:defRPr>
            </a:pPr>
            <a:r>
              <a:t>Very Strong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57200" y="3474720"/>
            <a:ext cx="2228027" cy="502920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30352" y="3584448"/>
            <a:ext cx="2118299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A1A2E"/>
                </a:solidFill>
              </a:defRPr>
            </a:pPr>
            <a:r>
              <a:t>4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712659" y="3474720"/>
            <a:ext cx="2228027" cy="502920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785811" y="3584448"/>
            <a:ext cx="2118299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A1A2E"/>
                </a:solidFill>
              </a:defRPr>
            </a:pPr>
            <a:r>
              <a:t>CPM Pricing Pre-Sale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968118" y="3474720"/>
            <a:ext cx="2228027" cy="502920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041270" y="3584448"/>
            <a:ext cx="2118299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A1A2E"/>
                </a:solidFill>
              </a:defRPr>
            </a:pPr>
            <a:r>
              <a:t>3 weeks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223577" y="3474720"/>
            <a:ext cx="2228027" cy="502920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296729" y="3584448"/>
            <a:ext cx="2118299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A1A2E"/>
                </a:solidFill>
              </a:defRPr>
            </a:pPr>
            <a:r>
              <a:t>$1,200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479036" y="3474720"/>
            <a:ext cx="2228027" cy="502920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552188" y="3584448"/>
            <a:ext cx="2118299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A1A2E"/>
                </a:solidFill>
              </a:defRPr>
            </a:pPr>
            <a:r>
              <a:t>Very Strong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57200" y="3977640"/>
            <a:ext cx="2228027" cy="502920"/>
          </a:xfrm>
          <a:prstGeom prst="rect">
            <a:avLst/>
          </a:prstGeom>
          <a:solidFill>
            <a:srgbClr val="F3F4F6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30352" y="4087368"/>
            <a:ext cx="2118299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A1A2E"/>
                </a:solidFill>
              </a:defRPr>
            </a:pPr>
            <a:r>
              <a:t>5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712659" y="3977640"/>
            <a:ext cx="2228027" cy="502920"/>
          </a:xfrm>
          <a:prstGeom prst="rect">
            <a:avLst/>
          </a:prstGeom>
          <a:solidFill>
            <a:srgbClr val="F3F4F6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785811" y="4087368"/>
            <a:ext cx="2118299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A1A2E"/>
                </a:solidFill>
              </a:defRPr>
            </a:pPr>
            <a:r>
              <a:t>DSP Integration Spike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968118" y="3977640"/>
            <a:ext cx="2228027" cy="502920"/>
          </a:xfrm>
          <a:prstGeom prst="rect">
            <a:avLst/>
          </a:prstGeom>
          <a:solidFill>
            <a:srgbClr val="F3F4F6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041270" y="4087368"/>
            <a:ext cx="2118299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A1A2E"/>
                </a:solidFill>
              </a:defRPr>
            </a:pPr>
            <a:r>
              <a:t>4 weeks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223577" y="3977640"/>
            <a:ext cx="2228027" cy="502920"/>
          </a:xfrm>
          <a:prstGeom prst="rect">
            <a:avLst/>
          </a:prstGeom>
          <a:solidFill>
            <a:srgbClr val="F3F4F6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296729" y="4087368"/>
            <a:ext cx="2118299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A1A2E"/>
                </a:solidFill>
              </a:defRPr>
            </a:pPr>
            <a:r>
              <a:t>$2,000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479036" y="3977640"/>
            <a:ext cx="2228027" cy="502920"/>
          </a:xfrm>
          <a:prstGeom prst="rect">
            <a:avLst/>
          </a:prstGeom>
          <a:solidFill>
            <a:srgbClr val="F3F4F6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552188" y="4087368"/>
            <a:ext cx="2118299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A1A2E"/>
                </a:solidFill>
              </a:defRPr>
            </a:pPr>
            <a:r>
              <a:t>Strong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65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SUCCESS CRITERIA: Decision Gates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463040"/>
            <a:ext cx="3731666" cy="502920"/>
          </a:xfrm>
          <a:prstGeom prst="rect">
            <a:avLst/>
          </a:prstGeom>
          <a:solidFill>
            <a:srgbClr val="165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72768"/>
            <a:ext cx="3667658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Experiment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4216298" y="1463040"/>
            <a:ext cx="3731666" cy="502920"/>
          </a:xfrm>
          <a:prstGeom prst="rect">
            <a:avLst/>
          </a:prstGeom>
          <a:solidFill>
            <a:srgbClr val="165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62018" y="1572768"/>
            <a:ext cx="3667658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Success = GO</a:t>
            </a:r>
          </a:p>
        </p:txBody>
      </p:sp>
      <p:sp>
        <p:nvSpPr>
          <p:cNvPr id="8" name="Rectangle 7"/>
          <p:cNvSpPr/>
          <p:nvPr/>
        </p:nvSpPr>
        <p:spPr>
          <a:xfrm>
            <a:off x="7975396" y="1463040"/>
            <a:ext cx="3731666" cy="502920"/>
          </a:xfrm>
          <a:prstGeom prst="rect">
            <a:avLst/>
          </a:prstGeom>
          <a:solidFill>
            <a:srgbClr val="165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21116" y="1572768"/>
            <a:ext cx="3667658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Failure = PIVOT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965960"/>
            <a:ext cx="3731666" cy="502920"/>
          </a:xfrm>
          <a:prstGeom prst="rect">
            <a:avLst/>
          </a:prstGeom>
          <a:solidFill>
            <a:srgbClr val="F3F4F6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0352" y="2075688"/>
            <a:ext cx="3621938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A1A2E"/>
                </a:solidFill>
              </a:defRPr>
            </a:pPr>
            <a:r>
              <a:t>#1 Survey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16298" y="1965960"/>
            <a:ext cx="3731666" cy="502920"/>
          </a:xfrm>
          <a:prstGeom prst="rect">
            <a:avLst/>
          </a:prstGeom>
          <a:solidFill>
            <a:srgbClr val="F3F4F6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89450" y="2075688"/>
            <a:ext cx="3621938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A1A2E"/>
                </a:solidFill>
              </a:defRPr>
            </a:pPr>
            <a:r>
              <a:t>≥70% rank real-time #1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975396" y="1965960"/>
            <a:ext cx="3731666" cy="502920"/>
          </a:xfrm>
          <a:prstGeom prst="rect">
            <a:avLst/>
          </a:prstGeom>
          <a:solidFill>
            <a:srgbClr val="F3F4F6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8548" y="2075688"/>
            <a:ext cx="3621938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A1A2E"/>
                </a:solidFill>
              </a:defRPr>
            </a:pPr>
            <a:r>
              <a:t>Pivot feature focus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468880"/>
            <a:ext cx="3731666" cy="502920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0352" y="2578608"/>
            <a:ext cx="3621938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A1A2E"/>
                </a:solidFill>
              </a:defRPr>
            </a:pPr>
            <a:r>
              <a:t>#2 Interviews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16298" y="2468880"/>
            <a:ext cx="3731666" cy="502920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89450" y="2578608"/>
            <a:ext cx="3621938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A1A2E"/>
                </a:solidFill>
              </a:defRPr>
            </a:pPr>
            <a:r>
              <a:t>≥50% commit $50K+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975396" y="2468880"/>
            <a:ext cx="3731666" cy="502920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48548" y="2578608"/>
            <a:ext cx="3621938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A1A2E"/>
                </a:solidFill>
              </a:defRPr>
            </a:pPr>
            <a:r>
              <a:t>Smaller pilot scope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2971800"/>
            <a:ext cx="3731666" cy="502920"/>
          </a:xfrm>
          <a:prstGeom prst="rect">
            <a:avLst/>
          </a:prstGeom>
          <a:solidFill>
            <a:srgbClr val="F3F4F6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0352" y="3081528"/>
            <a:ext cx="3621938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A1A2E"/>
                </a:solidFill>
              </a:defRPr>
            </a:pPr>
            <a:r>
              <a:t>#3 XanhSM LOI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16298" y="2971800"/>
            <a:ext cx="3731666" cy="502920"/>
          </a:xfrm>
          <a:prstGeom prst="rect">
            <a:avLst/>
          </a:prstGeom>
          <a:solidFill>
            <a:srgbClr val="F3F4F6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289450" y="3081528"/>
            <a:ext cx="3621938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A1A2E"/>
                </a:solidFill>
              </a:defRPr>
            </a:pPr>
            <a:r>
              <a:t>Signed 3/4 key terms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975396" y="2971800"/>
            <a:ext cx="3731666" cy="502920"/>
          </a:xfrm>
          <a:prstGeom prst="rect">
            <a:avLst/>
          </a:prstGeom>
          <a:solidFill>
            <a:srgbClr val="F3F4F6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8548" y="3081528"/>
            <a:ext cx="3621938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A1A2E"/>
                </a:solidFill>
              </a:defRPr>
            </a:pPr>
            <a:r>
              <a:t>Approach Grab or Be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3474720"/>
            <a:ext cx="3731666" cy="502920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30352" y="3584448"/>
            <a:ext cx="3621938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A1A2E"/>
                </a:solidFill>
              </a:defRPr>
            </a:pPr>
            <a:r>
              <a:t>#4 Pre-Sales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216298" y="3474720"/>
            <a:ext cx="3731666" cy="502920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289450" y="3584448"/>
            <a:ext cx="3621938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A1A2E"/>
                </a:solidFill>
              </a:defRPr>
            </a:pPr>
            <a:r>
              <a:t>≥$150K at $8-12 CPM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975396" y="3474720"/>
            <a:ext cx="3731666" cy="502920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48548" y="3584448"/>
            <a:ext cx="3621938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A1A2E"/>
                </a:solidFill>
              </a:defRPr>
            </a:pPr>
            <a:r>
              <a:t>Lower CPM / volume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3977640"/>
            <a:ext cx="3731666" cy="502920"/>
          </a:xfrm>
          <a:prstGeom prst="rect">
            <a:avLst/>
          </a:prstGeom>
          <a:solidFill>
            <a:srgbClr val="F3F4F6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30352" y="4087368"/>
            <a:ext cx="3621938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A1A2E"/>
                </a:solidFill>
              </a:defRPr>
            </a:pPr>
            <a:r>
              <a:t>#5 DSP Spike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216298" y="3977640"/>
            <a:ext cx="3731666" cy="502920"/>
          </a:xfrm>
          <a:prstGeom prst="rect">
            <a:avLst/>
          </a:prstGeom>
          <a:solidFill>
            <a:srgbClr val="F3F4F6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289450" y="4087368"/>
            <a:ext cx="3621938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A1A2E"/>
                </a:solidFill>
              </a:defRPr>
            </a:pPr>
            <a:r>
              <a:t>Both feasible 90 days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975396" y="3977640"/>
            <a:ext cx="3731666" cy="502920"/>
          </a:xfrm>
          <a:prstGeom prst="rect">
            <a:avLst/>
          </a:prstGeom>
          <a:solidFill>
            <a:srgbClr val="F3F4F6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048548" y="4087368"/>
            <a:ext cx="3621938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A1A2E"/>
                </a:solidFill>
              </a:defRPr>
            </a:pPr>
            <a:r>
              <a:t>Self-serve first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65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NEXT STEPS: Immediate Actions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1A1A2E"/>
                </a:solidFill>
              </a:defRPr>
            </a:pPr>
            <a:r>
              <a:t>THIS WEEK:</a:t>
            </a:r>
          </a:p>
          <a:p>
            <a:pPr>
              <a:spcAft>
                <a:spcPts val="1000"/>
              </a:spcAft>
              <a:defRPr sz="2200">
                <a:solidFill>
                  <a:srgbClr val="1A1A2E"/>
                </a:solidFill>
              </a:defRPr>
            </a:pPr>
            <a:r>
              <a:t>  ☐  Build LinkedIn contact list: 50 agency media buyers</a:t>
            </a:r>
          </a:p>
          <a:p>
            <a:pPr>
              <a:spcAft>
                <a:spcPts val="1000"/>
              </a:spcAft>
              <a:defRPr sz="2200">
                <a:solidFill>
                  <a:srgbClr val="1A1A2E"/>
                </a:solidFill>
              </a:defRPr>
            </a:pPr>
            <a:r>
              <a:t>  ☐  Create 5-question survey (Google Forms)</a:t>
            </a:r>
          </a:p>
          <a:p>
            <a:pPr>
              <a:spcAft>
                <a:spcPts val="1000"/>
              </a:spcAft>
              <a:defRPr sz="2200">
                <a:solidFill>
                  <a:srgbClr val="1A1A2E"/>
                </a:solidFill>
              </a:defRPr>
            </a:pPr>
            <a:r>
              <a:t>  ☐  Research XanhSM decision-makers (Head of Partnerships)</a:t>
            </a:r>
          </a:p>
          <a:p>
            <a:pPr>
              <a:spcAft>
                <a:spcPts val="1000"/>
              </a:spcAft>
              <a:defRPr sz="2200">
                <a:solidFill>
                  <a:srgbClr val="1A1A2E"/>
                </a:solidFill>
              </a:defRPr>
            </a:pPr>
            <a:r>
              <a:t>  ☐  Secure warm intro to XanhSM via investor/EV network</a:t>
            </a:r>
          </a:p>
          <a:p>
            <a:pPr>
              <a:spcAft>
                <a:spcPts val="1000"/>
              </a:spcAft>
              <a:defRPr sz="2200">
                <a:solidFill>
                  <a:srgbClr val="1A1A2E"/>
                </a:solidFill>
              </a:defRPr>
            </a:pPr>
          </a:p>
          <a:p>
            <a:pPr>
              <a:spcAft>
                <a:spcPts val="1000"/>
              </a:spcAft>
              <a:defRPr sz="2200">
                <a:solidFill>
                  <a:srgbClr val="1A1A2E"/>
                </a:solidFill>
              </a:defRPr>
            </a:pPr>
            <a:r>
              <a:t>MONTH 1 TARGETS:</a:t>
            </a:r>
          </a:p>
          <a:p>
            <a:pPr>
              <a:spcAft>
                <a:spcPts val="1000"/>
              </a:spcAft>
              <a:defRPr sz="2200">
                <a:solidFill>
                  <a:srgbClr val="1A1A2E"/>
                </a:solidFill>
              </a:defRPr>
            </a:pPr>
            <a:r>
              <a:t>  ☐  30+ survey responses from media buyers</a:t>
            </a:r>
          </a:p>
          <a:p>
            <a:pPr>
              <a:spcAft>
                <a:spcPts val="1000"/>
              </a:spcAft>
              <a:defRPr sz="2200">
                <a:solidFill>
                  <a:srgbClr val="1A1A2E"/>
                </a:solidFill>
              </a:defRPr>
            </a:pPr>
            <a:r>
              <a:t>  ☐  12 interviews with agency/brand decision-makers</a:t>
            </a:r>
          </a:p>
          <a:p>
            <a:pPr>
              <a:spcAft>
                <a:spcPts val="1000"/>
              </a:spcAft>
              <a:defRPr sz="2200">
                <a:solidFill>
                  <a:srgbClr val="1A1A2E"/>
                </a:solidFill>
              </a:defRPr>
            </a:pPr>
            <a:r>
              <a:t>  ☐  1st meeting with XanhSM partnerships team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5669280"/>
            <a:ext cx="11277295" cy="822960"/>
          </a:xfrm>
          <a:prstGeom prst="roundRect">
            <a:avLst/>
          </a:prstGeom>
          <a:solidFill>
            <a:srgbClr val="F3F4F6"/>
          </a:solidFill>
          <a:ln>
            <a:solidFill>
              <a:srgbClr val="5B8D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58064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1652F0"/>
                </a:solidFill>
              </a:defRPr>
            </a:pPr>
            <a:r>
              <a:t>🎯 Ultimate Success: $150K+ pre-sold + XanhSM LOI signed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